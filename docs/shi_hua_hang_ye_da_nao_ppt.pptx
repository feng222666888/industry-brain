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857" r:id="rId1"/>
  </p:sldMasterIdLst>
  <p:notesMasterIdLst>
    <p:notesMasterId r:id="rId19"/>
  </p:notesMasterIdLst>
  <p:handoutMasterIdLst>
    <p:handoutMasterId r:id="rId20"/>
  </p:handoutMasterIdLst>
  <p:sldIdLst>
    <p:sldId id="412" r:id="rId2"/>
    <p:sldId id="417" r:id="rId5"/>
    <p:sldId id="447" r:id="rId25"/>
    <p:sldId id="448" r:id="rId26"/>
    <p:sldId id="449" r:id="rId27"/>
    <p:sldId id="450" r:id="rId28"/>
    <p:sldId id="451" r:id="rId29"/>
    <p:sldId id="452" r:id="rId30"/>
    <p:sldId id="44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00A3A2"/>
    <a:srgbClr val="0E48CE"/>
    <a:srgbClr val="FF7F00"/>
    <a:srgbClr val="702991"/>
    <a:srgbClr val="EB0029"/>
    <a:srgbClr val="DCDCDC"/>
    <a:srgbClr val="E6E6E6"/>
    <a:srgbClr val="0C4FCA"/>
    <a:srgbClr val="019A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79"/>
    <p:restoredTop sz="94690"/>
  </p:normalViewPr>
  <p:slideViewPr>
    <p:cSldViewPr snapToGrid="0" snapToObjects="1">
      <p:cViewPr varScale="1">
        <p:scale>
          <a:sx n="79" d="100"/>
          <a:sy n="79" d="100"/>
        </p:scale>
        <p:origin x="36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2512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2.xml"/><Relationship Id="rId16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5C8440D-F300-1945-AF11-806D4D150E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7141F4-BAC7-D247-805A-2E5B4428FC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50A564-4BD6-C241-B0EF-F2EA8637067C}" type="datetimeFigureOut">
              <a:rPr kumimoji="1" lang="zh-CN" altLang="en-US" smtClean="0"/>
              <a:t>2022/10/11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5E4EBB-D205-CE4B-BD94-160448348E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EF95A2-25F9-2846-AA76-74F4E9E788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F412B-C48B-AB46-A162-40EEC57674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7744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79C2B-F998-5540-8710-D9FEEDF7CBE3}" type="datetimeFigureOut">
              <a:rPr kumimoji="1" lang="zh-CN" altLang="en-US" smtClean="0"/>
              <a:t>2022/10/11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0017C-9B7C-4C4F-8220-191876B701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76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D3D4D9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6AFBAED9-22BD-4241-86A2-6C946E055D4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905407" y="6368114"/>
            <a:ext cx="1616327" cy="289051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rgbClr val="0D48CE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1087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rgbClr val="D3D4D9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6AFBAED9-22BD-4241-86A2-6C946E055D4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905407" y="6368114"/>
            <a:ext cx="1616327" cy="289051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rgbClr val="0D48CE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4851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8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</p:sldLayoutIdLst>
  <p:hf hd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1EBAC19-86A1-6742-9875-13FBBFD00683}"/>
              </a:ext>
            </a:extLst>
          </p:cNvPr>
          <p:cNvSpPr txBox="1"/>
          <p:nvPr/>
        </p:nvSpPr>
        <p:spPr>
          <a:xfrm>
            <a:off x="766544" y="1831767"/>
            <a:ext cx="67554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200" b="1">
                <a:solidFill>
                  <a:srgbClr val="4D4D4D"/>
                </a:solidFill>
                <a:latin typeface="微软雅黑"/>
                <a:ea typeface="微软雅黑"/>
              </a:rPr>
              <a:t>石化行业大脑——补充内容</a:t>
            </a:r>
            <a:endParaRPr kumimoji="1" lang="zh-CN" altLang="en-US" sz="4200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173D5C-3273-CD46-B70F-F931819B4224}"/>
              </a:ext>
            </a:extLst>
          </p:cNvPr>
          <p:cNvSpPr txBox="1"/>
          <p:nvPr/>
        </p:nvSpPr>
        <p:spPr>
          <a:xfrm>
            <a:off x="766545" y="3077681"/>
            <a:ext cx="3942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800" b="0">
                <a:solidFill>
                  <a:srgbClr val="4D4D4D"/>
                </a:solidFill>
                <a:latin typeface="微软雅黑"/>
                <a:ea typeface="微软雅黑"/>
              </a:rPr>
              <a:t>2026 年 02 月</a:t>
            </a:r>
            <a:endParaRPr kumimoji="1" lang="en-US" altLang="zh-CN" sz="28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645E14-E5FA-9142-83FF-5A7DCC61360D}"/>
              </a:ext>
            </a:extLst>
          </p:cNvPr>
          <p:cNvSpPr txBox="1"/>
          <p:nvPr/>
        </p:nvSpPr>
        <p:spPr>
          <a:xfrm>
            <a:off x="806995" y="6286406"/>
            <a:ext cx="2606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4D4D4D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Arial" panose="020B0604020202020204" pitchFamily="34" charset="0"/>
              </a:rPr>
              <a:t>未来，因潮澎湃    </a:t>
            </a:r>
            <a:r>
              <a:rPr kumimoji="1" lang="en-US" altLang="zh-CN" sz="1200" dirty="0">
                <a:solidFill>
                  <a:srgbClr val="4D4D4D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Arial" panose="020B0604020202020204" pitchFamily="34" charset="0"/>
              </a:rPr>
              <a:t>Inspur in Future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ECC0DB7F-8C23-3145-8B67-F2D05DECC266}"/>
              </a:ext>
            </a:extLst>
          </p:cNvPr>
          <p:cNvSpPr>
            <a:spLocks/>
          </p:cNvSpPr>
          <p:nvPr/>
        </p:nvSpPr>
        <p:spPr bwMode="auto">
          <a:xfrm>
            <a:off x="6674663" y="896471"/>
            <a:ext cx="4881600" cy="5325036"/>
          </a:xfrm>
          <a:custGeom>
            <a:avLst/>
            <a:gdLst>
              <a:gd name="T0" fmla="*/ 320 w 1531"/>
              <a:gd name="T1" fmla="*/ 18 h 1670"/>
              <a:gd name="T2" fmla="*/ 1504 w 1531"/>
              <a:gd name="T3" fmla="*/ 822 h 1670"/>
              <a:gd name="T4" fmla="*/ 1500 w 1531"/>
              <a:gd name="T5" fmla="*/ 895 h 1670"/>
              <a:gd name="T6" fmla="*/ 69 w 1531"/>
              <a:gd name="T7" fmla="*/ 1653 h 1670"/>
              <a:gd name="T8" fmla="*/ 6 w 1531"/>
              <a:gd name="T9" fmla="*/ 1608 h 1670"/>
              <a:gd name="T10" fmla="*/ 254 w 1531"/>
              <a:gd name="T11" fmla="*/ 47 h 1670"/>
              <a:gd name="T12" fmla="*/ 320 w 1531"/>
              <a:gd name="T13" fmla="*/ 18 h 1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31" h="1670">
                <a:moveTo>
                  <a:pt x="320" y="18"/>
                </a:moveTo>
                <a:cubicBezTo>
                  <a:pt x="1504" y="822"/>
                  <a:pt x="1504" y="822"/>
                  <a:pt x="1504" y="822"/>
                </a:cubicBezTo>
                <a:cubicBezTo>
                  <a:pt x="1531" y="840"/>
                  <a:pt x="1529" y="880"/>
                  <a:pt x="1500" y="895"/>
                </a:cubicBezTo>
                <a:cubicBezTo>
                  <a:pt x="69" y="1653"/>
                  <a:pt x="69" y="1653"/>
                  <a:pt x="69" y="1653"/>
                </a:cubicBezTo>
                <a:cubicBezTo>
                  <a:pt x="37" y="1670"/>
                  <a:pt x="0" y="1643"/>
                  <a:pt x="6" y="1608"/>
                </a:cubicBezTo>
                <a:cubicBezTo>
                  <a:pt x="254" y="47"/>
                  <a:pt x="254" y="47"/>
                  <a:pt x="254" y="47"/>
                </a:cubicBezTo>
                <a:cubicBezTo>
                  <a:pt x="259" y="16"/>
                  <a:pt x="294" y="0"/>
                  <a:pt x="320" y="18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1545" t="-360" r="-27739" b="-7212"/>
            </a:stretch>
          </a:blip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0ABE0203-5A15-8E4A-A031-935352D15E9D}"/>
              </a:ext>
            </a:extLst>
          </p:cNvPr>
          <p:cNvSpPr>
            <a:spLocks/>
          </p:cNvSpPr>
          <p:nvPr/>
        </p:nvSpPr>
        <p:spPr bwMode="auto">
          <a:xfrm>
            <a:off x="10707842" y="3734784"/>
            <a:ext cx="623702" cy="681626"/>
          </a:xfrm>
          <a:custGeom>
            <a:avLst/>
            <a:gdLst>
              <a:gd name="T0" fmla="*/ 56 w 196"/>
              <a:gd name="T1" fmla="*/ 7 h 214"/>
              <a:gd name="T2" fmla="*/ 185 w 196"/>
              <a:gd name="T3" fmla="*/ 95 h 214"/>
              <a:gd name="T4" fmla="*/ 184 w 196"/>
              <a:gd name="T5" fmla="*/ 124 h 214"/>
              <a:gd name="T6" fmla="*/ 28 w 196"/>
              <a:gd name="T7" fmla="*/ 207 h 214"/>
              <a:gd name="T8" fmla="*/ 2 w 196"/>
              <a:gd name="T9" fmla="*/ 189 h 214"/>
              <a:gd name="T10" fmla="*/ 29 w 196"/>
              <a:gd name="T11" fmla="*/ 19 h 214"/>
              <a:gd name="T12" fmla="*/ 56 w 196"/>
              <a:gd name="T13" fmla="*/ 7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6" h="214">
                <a:moveTo>
                  <a:pt x="56" y="7"/>
                </a:moveTo>
                <a:cubicBezTo>
                  <a:pt x="185" y="95"/>
                  <a:pt x="185" y="95"/>
                  <a:pt x="185" y="95"/>
                </a:cubicBezTo>
                <a:cubicBezTo>
                  <a:pt x="196" y="102"/>
                  <a:pt x="195" y="118"/>
                  <a:pt x="184" y="124"/>
                </a:cubicBezTo>
                <a:cubicBezTo>
                  <a:pt x="28" y="207"/>
                  <a:pt x="28" y="207"/>
                  <a:pt x="28" y="207"/>
                </a:cubicBezTo>
                <a:cubicBezTo>
                  <a:pt x="15" y="214"/>
                  <a:pt x="0" y="203"/>
                  <a:pt x="2" y="189"/>
                </a:cubicBezTo>
                <a:cubicBezTo>
                  <a:pt x="29" y="19"/>
                  <a:pt x="29" y="19"/>
                  <a:pt x="29" y="19"/>
                </a:cubicBezTo>
                <a:cubicBezTo>
                  <a:pt x="31" y="6"/>
                  <a:pt x="46" y="0"/>
                  <a:pt x="56" y="7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7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AC051466-D889-484F-AB63-0BBBD94BF924}"/>
              </a:ext>
            </a:extLst>
          </p:cNvPr>
          <p:cNvSpPr>
            <a:spLocks/>
          </p:cNvSpPr>
          <p:nvPr/>
        </p:nvSpPr>
        <p:spPr bwMode="auto">
          <a:xfrm>
            <a:off x="5877187" y="2816071"/>
            <a:ext cx="2470558" cy="2694174"/>
          </a:xfrm>
          <a:custGeom>
            <a:avLst/>
            <a:gdLst>
              <a:gd name="T0" fmla="*/ 177 w 775"/>
              <a:gd name="T1" fmla="*/ 14 h 845"/>
              <a:gd name="T2" fmla="*/ 754 w 775"/>
              <a:gd name="T3" fmla="*/ 405 h 845"/>
              <a:gd name="T4" fmla="*/ 751 w 775"/>
              <a:gd name="T5" fmla="*/ 463 h 845"/>
              <a:gd name="T6" fmla="*/ 54 w 775"/>
              <a:gd name="T7" fmla="*/ 832 h 845"/>
              <a:gd name="T8" fmla="*/ 4 w 775"/>
              <a:gd name="T9" fmla="*/ 797 h 845"/>
              <a:gd name="T10" fmla="*/ 125 w 775"/>
              <a:gd name="T11" fmla="*/ 37 h 845"/>
              <a:gd name="T12" fmla="*/ 177 w 775"/>
              <a:gd name="T13" fmla="*/ 14 h 8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5" h="845">
                <a:moveTo>
                  <a:pt x="177" y="14"/>
                </a:moveTo>
                <a:cubicBezTo>
                  <a:pt x="754" y="405"/>
                  <a:pt x="754" y="405"/>
                  <a:pt x="754" y="405"/>
                </a:cubicBezTo>
                <a:cubicBezTo>
                  <a:pt x="775" y="419"/>
                  <a:pt x="773" y="451"/>
                  <a:pt x="751" y="463"/>
                </a:cubicBezTo>
                <a:cubicBezTo>
                  <a:pt x="54" y="832"/>
                  <a:pt x="54" y="832"/>
                  <a:pt x="54" y="832"/>
                </a:cubicBezTo>
                <a:cubicBezTo>
                  <a:pt x="29" y="845"/>
                  <a:pt x="0" y="825"/>
                  <a:pt x="4" y="79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9" y="12"/>
                  <a:pt x="157" y="0"/>
                  <a:pt x="177" y="14"/>
                </a:cubicBezTo>
                <a:close/>
              </a:path>
            </a:pathLst>
          </a:custGeom>
          <a:gradFill flip="none" rotWithShape="1">
            <a:gsLst>
              <a:gs pos="0">
                <a:srgbClr val="FF8000"/>
              </a:gs>
              <a:gs pos="100000">
                <a:srgbClr val="E80029"/>
              </a:gs>
            </a:gsLst>
            <a:lin ang="0" scaled="1"/>
            <a:tileRect/>
          </a:gra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81439423-C6F8-3043-A3C3-A71CC82E5EA2}"/>
              </a:ext>
            </a:extLst>
          </p:cNvPr>
          <p:cNvSpPr>
            <a:spLocks noEditPoints="1"/>
          </p:cNvSpPr>
          <p:nvPr/>
        </p:nvSpPr>
        <p:spPr bwMode="auto">
          <a:xfrm>
            <a:off x="768009" y="544469"/>
            <a:ext cx="2565711" cy="458832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rgbClr val="0D48CE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5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微软雅黑"/>
                <a:ea typeface="微软雅黑"/>
              </a:rPr>
              <a:t>目录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500000" y="1500000"/>
            <a:ext cx="8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D48CE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00000" y="1500000"/>
            <a:ext cx="80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微软雅黑"/>
                <a:ea typeface="微软雅黑"/>
              </a:rPr>
              <a:t>石化行业全链条结构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00000" y="1980000"/>
            <a:ext cx="8000000" cy="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00000" y="2200000"/>
            <a:ext cx="8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D48CE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00000" y="2200000"/>
            <a:ext cx="80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微软雅黑"/>
                <a:ea typeface="微软雅黑"/>
              </a:rPr>
              <a:t>数字化转型重点场景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00000" y="2680000"/>
            <a:ext cx="8000000" cy="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0000" y="2900000"/>
            <a:ext cx="8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D48CE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00000" y="2900000"/>
            <a:ext cx="80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微软雅黑"/>
                <a:ea typeface="微软雅黑"/>
              </a:rPr>
              <a:t>石化AI竞品与开源技术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00000" y="3380000"/>
            <a:ext cx="8000000" cy="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00000" y="3600000"/>
            <a:ext cx="8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D48CE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00000" y="3600000"/>
            <a:ext cx="80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微软雅黑"/>
                <a:ea typeface="微软雅黑"/>
              </a:rPr>
              <a:t>市场机遇与商业落地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00000" y="4080000"/>
            <a:ext cx="8000000" cy="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00000" y="4300000"/>
            <a:ext cx="8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D48CE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00000" y="4300000"/>
            <a:ext cx="80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微软雅黑"/>
                <a:ea typeface="微软雅黑"/>
              </a:rPr>
              <a:t>业务目标与里程碑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00000" y="4780000"/>
            <a:ext cx="8000000" cy="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00000" y="5000000"/>
            <a:ext cx="8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D48CE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00000" y="5000000"/>
            <a:ext cx="80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微软雅黑"/>
                <a:ea typeface="微软雅黑"/>
              </a:rPr>
              <a:t>行业大脑系统架构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00000" y="5480000"/>
            <a:ext cx="8000000" cy="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57596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微软雅黑"/>
                <a:ea typeface="微软雅黑"/>
              </a:rPr>
              <a:t>石化行业全链条结构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54593" y="1050000"/>
            <a:ext cx="10843761" cy="42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4593" y="1110000"/>
            <a:ext cx="10603761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4D4D4D"/>
                </a:solidFill>
                <a:latin typeface="微软雅黑"/>
                <a:ea typeface="微软雅黑"/>
              </a:rPr>
              <a:t>石化行业覆盖"原油炼制→基础化学品→高分子材料→合成与成型"四大环节，是国民经济支柱产业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4593" y="1600000"/>
            <a:ext cx="2560940" cy="420000"/>
          </a:xfrm>
          <a:prstGeom prst="roundRect">
            <a:avLst/>
          </a:prstGeom>
          <a:solidFill>
            <a:srgbClr val="0D3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原油炼制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15533" y="1803650"/>
            <a:ext cx="200000" cy="12700"/>
          </a:xfrm>
          <a:prstGeom prst="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 rot="5400000">
            <a:off x="3335533" y="1770000"/>
            <a:ext cx="80000" cy="80000"/>
          </a:xfrm>
          <a:prstGeom prst="triangle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415533" y="1600000"/>
            <a:ext cx="2560940" cy="420000"/>
          </a:xfrm>
          <a:prstGeom prst="round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基础化学品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76473" y="1803650"/>
            <a:ext cx="200000" cy="12700"/>
          </a:xfrm>
          <a:prstGeom prst="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5400000">
            <a:off x="6096473" y="1770000"/>
            <a:ext cx="80000" cy="80000"/>
          </a:xfrm>
          <a:prstGeom prst="triangle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76473" y="1600000"/>
            <a:ext cx="2560940" cy="420000"/>
          </a:xfrm>
          <a:prstGeom prst="roundRect">
            <a:avLst/>
          </a:prstGeom>
          <a:solidFill>
            <a:srgbClr val="33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高分子材料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37413" y="1803650"/>
            <a:ext cx="200000" cy="12700"/>
          </a:xfrm>
          <a:prstGeom prst="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 rot="5400000">
            <a:off x="8857413" y="1770000"/>
            <a:ext cx="80000" cy="80000"/>
          </a:xfrm>
          <a:prstGeom prst="triangle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37413" y="1600000"/>
            <a:ext cx="2560940" cy="420000"/>
          </a:xfrm>
          <a:prstGeom prst="roundRect">
            <a:avLst/>
          </a:prstGeom>
          <a:solidFill>
            <a:srgbClr val="669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合成与成型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654593" y="2150000"/>
          <a:ext cx="10843761" cy="41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2500000"/>
                <a:gridCol w="2500000"/>
                <a:gridCol w="1500000"/>
                <a:gridCol w="1943761"/>
              </a:tblGrid>
              <a:tr h="8300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anchor="ctr">
                    <a:solidFill>
                      <a:srgbClr val="0D48C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核心工艺</a:t>
                      </a:r>
                    </a:p>
                  </a:txBody>
                  <a:tcPr anchor="ctr">
                    <a:solidFill>
                      <a:srgbClr val="0D48C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主要产品</a:t>
                      </a:r>
                    </a:p>
                  </a:txBody>
                  <a:tcPr anchor="ctr">
                    <a:solidFill>
                      <a:srgbClr val="0D48C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数字化水平</a:t>
                      </a:r>
                    </a:p>
                  </a:txBody>
                  <a:tcPr anchor="ctr">
                    <a:solidFill>
                      <a:srgbClr val="0D48C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关键特征</a:t>
                      </a:r>
                    </a:p>
                  </a:txBody>
                  <a:tcPr anchor="ctr">
                    <a:solidFill>
                      <a:srgbClr val="0D48C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83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石油炼制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蒸馏、裂化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汽油、柴油、煤油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流程连续、自动化高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83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基础有机化学品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裂解、重整、催化氧化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乙烯、芳烃、醇醛酮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  <a:r>
                        <a:rPr sz="1400" b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机理复杂、参数耦合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83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高分子材料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加聚、缩聚反应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PE、PP、PET、PU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  <a:r>
                        <a:rPr sz="1400" b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☆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多牌号切换、质控难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83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高分子合成与成型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挤出、注塑、吹塑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塑料制品、纤维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  <a:r>
                        <a:rPr sz="1400" b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工艺参数敏感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11200000" y="6500000"/>
            <a:ext cx="8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微软雅黑"/>
                <a:ea typeface="微软雅黑"/>
              </a:rPr>
              <a:t>1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微软雅黑"/>
                <a:ea typeface="微软雅黑"/>
              </a:rPr>
              <a:t>数字化转型重点场景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54593" y="1050000"/>
            <a:ext cx="10843761" cy="42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4593" y="1110000"/>
            <a:ext cx="10603761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4D4D4D"/>
                </a:solidFill>
                <a:latin typeface="微软雅黑"/>
                <a:ea typeface="微软雅黑"/>
              </a:rPr>
              <a:t>聚焦</a:t>
            </a:r>
            <a:r>
              <a:rPr sz="1400" b="1">
                <a:solidFill>
                  <a:srgbClr val="0D48CE"/>
                </a:solidFill>
                <a:latin typeface="微软雅黑"/>
                <a:ea typeface="微软雅黑"/>
              </a:rPr>
              <a:t>时序数据分析</a:t>
            </a:r>
            <a:r>
              <a:rPr sz="1400" b="0">
                <a:solidFill>
                  <a:srgbClr val="4D4D4D"/>
                </a:solidFill>
                <a:latin typeface="微软雅黑"/>
                <a:ea typeface="微软雅黑"/>
              </a:rPr>
              <a:t>与</a:t>
            </a:r>
            <a:r>
              <a:rPr sz="1400" b="1">
                <a:solidFill>
                  <a:srgbClr val="0D48CE"/>
                </a:solidFill>
                <a:latin typeface="微软雅黑"/>
                <a:ea typeface="微软雅黑"/>
              </a:rPr>
              <a:t>多模态AI</a:t>
            </a:r>
            <a:r>
              <a:rPr sz="1400" b="0">
                <a:solidFill>
                  <a:srgbClr val="4D4D4D"/>
                </a:solidFill>
                <a:latin typeface="微软雅黑"/>
                <a:ea typeface="微软雅黑"/>
              </a:rPr>
              <a:t>两大技术方向，从5大数字化类别中筛选高价值落地场景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54593" y="1600000"/>
          <a:ext cx="10843761" cy="4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1200000"/>
                <a:gridCol w="1000000"/>
                <a:gridCol w="2800000"/>
                <a:gridCol w="3243761"/>
              </a:tblGrid>
              <a:tr h="6714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场景</a:t>
                      </a:r>
                    </a:p>
                  </a:txBody>
                  <a:tcPr anchor="ctr">
                    <a:solidFill>
                      <a:srgbClr val="0D48C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anchor="ctr">
                    <a:solidFill>
                      <a:srgbClr val="0D48C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评级</a:t>
                      </a:r>
                    </a:p>
                  </a:txBody>
                  <a:tcPr anchor="ctr">
                    <a:solidFill>
                      <a:srgbClr val="0D48C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核心痛点</a:t>
                      </a:r>
                    </a:p>
                  </a:txBody>
                  <a:tcPr anchor="ctr">
                    <a:solidFill>
                      <a:srgbClr val="0D48C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AI切入点</a:t>
                      </a:r>
                    </a:p>
                  </a:txBody>
                  <a:tcPr anchor="ctr">
                    <a:solidFill>
                      <a:srgbClr val="0D48C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714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装置操作优化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协同制造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人员老龄化、知识难传承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时序</a:t>
                      </a:r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预测+操作导航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714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工艺参数优化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协同制造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机理复杂、多参数耦合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时序</a:t>
                      </a:r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模型实时寻优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714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设备健康诊断与故障预测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协同服务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★</a:t>
                      </a:r>
                      <a:r>
                        <a:rPr sz="1300" b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☆☆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非计划停车风险高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时序</a:t>
                      </a:r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监测+预测维护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714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催化剂电镜图像识别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协同研发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  <a:r>
                        <a:rPr sz="1300" b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特征量化与性能关联难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多模态</a:t>
                      </a:r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图像+知识图谱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714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智能化监督管理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协同管理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★</a:t>
                      </a:r>
                      <a:r>
                        <a:rPr sz="1300" b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☆☆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数据采集难、系统不通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多模态</a:t>
                      </a:r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视频AI+预警</a:t>
                      </a:r>
                    </a:p>
                  </a:txBody>
                  <a:tcPr anchor="ctr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714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供应链计划优化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供应链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★</a:t>
                      </a:r>
                      <a:r>
                        <a:rPr sz="1300" b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☆☆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跨环节协同效率低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D48CE"/>
                          </a:solidFill>
                          <a:latin typeface="微软雅黑"/>
                          <a:ea typeface="微软雅黑"/>
                        </a:rPr>
                        <a:t>时序</a:t>
                      </a:r>
                      <a:r>
                        <a:rPr sz="1300" b="0">
                          <a:solidFill>
                            <a:srgbClr val="4D4D4D"/>
                          </a:solidFill>
                          <a:latin typeface="微软雅黑"/>
                          <a:ea typeface="微软雅黑"/>
                        </a:rPr>
                        <a:t>需求预测+库存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11200000" y="6500000"/>
            <a:ext cx="8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微软雅黑"/>
                <a:ea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微软雅黑"/>
                <a:ea typeface="微软雅黑"/>
              </a:rPr>
              <a:t>石化AI竞品与开源技术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54593" y="1050000"/>
            <a:ext cx="10843761" cy="42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4593" y="1110000"/>
            <a:ext cx="10603761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4D4D4D"/>
                </a:solidFill>
                <a:latin typeface="微软雅黑"/>
                <a:ea typeface="微软雅黑"/>
              </a:rPr>
              <a:t>重点关注基于时序与多模态的行业产品，了解竞争格局与技术趋势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4593" y="1600000"/>
            <a:ext cx="2598440" cy="2992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4593" y="1600000"/>
            <a:ext cx="2598440" cy="50000"/>
          </a:xfrm>
          <a:prstGeom prst="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4593" y="1720000"/>
            <a:ext cx="235844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D48CE"/>
                </a:solidFill>
                <a:latin typeface="微软雅黑"/>
                <a:ea typeface="微软雅黑"/>
              </a:rPr>
              <a:t>TPT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593" y="2070000"/>
            <a:ext cx="23584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99999"/>
                </a:solidFill>
                <a:latin typeface="微软雅黑"/>
                <a:ea typeface="微软雅黑"/>
              </a:rPr>
              <a:t>中控技术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4593" y="2350000"/>
            <a:ext cx="235844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4593" y="2450000"/>
            <a:ext cx="23584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99999"/>
                </a:solidFill>
                <a:latin typeface="微软雅黑"/>
                <a:ea typeface="微软雅黑"/>
              </a:rPr>
              <a:t>技术路线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A1A1A"/>
                </a:solidFill>
                <a:latin typeface="微软雅黑"/>
                <a:ea typeface="微软雅黑"/>
              </a:rPr>
              <a:t>时序混合专家架构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4593" y="3595997"/>
            <a:ext cx="23584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99999"/>
                </a:solidFill>
                <a:latin typeface="微软雅黑"/>
                <a:ea typeface="微软雅黑"/>
              </a:rPr>
              <a:t>核心指标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A1A1A"/>
                </a:solidFill>
                <a:latin typeface="微软雅黑"/>
                <a:ea typeface="微软雅黑"/>
              </a:rPr>
              <a:t>518家预定/112套成交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03033" y="1600000"/>
            <a:ext cx="2598440" cy="2992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03033" y="1600000"/>
            <a:ext cx="2598440" cy="50000"/>
          </a:xfrm>
          <a:prstGeom prst="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23033" y="1720000"/>
            <a:ext cx="235844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D48CE"/>
                </a:solidFill>
                <a:latin typeface="微软雅黑"/>
                <a:ea typeface="微软雅黑"/>
              </a:rPr>
              <a:t>长城大模型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3033" y="2070000"/>
            <a:ext cx="23584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99999"/>
                </a:solidFill>
                <a:latin typeface="微软雅黑"/>
                <a:ea typeface="微软雅黑"/>
              </a:rPr>
              <a:t>中国石化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23033" y="2350000"/>
            <a:ext cx="235844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23033" y="2450000"/>
            <a:ext cx="23584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99999"/>
                </a:solidFill>
                <a:latin typeface="微软雅黑"/>
                <a:ea typeface="微软雅黑"/>
              </a:rPr>
              <a:t>技术路线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A1A1A"/>
                </a:solidFill>
                <a:latin typeface="微软雅黑"/>
                <a:ea typeface="微软雅黑"/>
              </a:rPr>
              <a:t>MoE通用大模型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23033" y="3595997"/>
            <a:ext cx="23584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99999"/>
                </a:solidFill>
                <a:latin typeface="微软雅黑"/>
                <a:ea typeface="微软雅黑"/>
              </a:rPr>
              <a:t>核心指标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A1A1A"/>
                </a:solidFill>
                <a:latin typeface="微软雅黑"/>
                <a:ea typeface="微软雅黑"/>
              </a:rPr>
              <a:t>7000亿参数/200+系统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51473" y="1600000"/>
            <a:ext cx="2598440" cy="2992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51473" y="1600000"/>
            <a:ext cx="2598440" cy="50000"/>
          </a:xfrm>
          <a:prstGeom prst="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71473" y="1720000"/>
            <a:ext cx="235844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D48CE"/>
                </a:solidFill>
                <a:latin typeface="微软雅黑"/>
                <a:ea typeface="微软雅黑"/>
              </a:rPr>
              <a:t>DeepSeek R1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71473" y="2070000"/>
            <a:ext cx="23584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99999"/>
                </a:solidFill>
                <a:latin typeface="微软雅黑"/>
                <a:ea typeface="微软雅黑"/>
              </a:rPr>
              <a:t>开源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71473" y="2350000"/>
            <a:ext cx="235844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71473" y="2450000"/>
            <a:ext cx="23584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99999"/>
                </a:solidFill>
                <a:latin typeface="微软雅黑"/>
                <a:ea typeface="微软雅黑"/>
              </a:rPr>
              <a:t>技术路线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A1A1A"/>
                </a:solidFill>
                <a:latin typeface="微软雅黑"/>
                <a:ea typeface="微软雅黑"/>
              </a:rPr>
              <a:t>推理+多模态框架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71473" y="3595997"/>
            <a:ext cx="23584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99999"/>
                </a:solidFill>
                <a:latin typeface="微软雅黑"/>
                <a:ea typeface="微软雅黑"/>
              </a:rPr>
              <a:t>核心指标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A1A1A"/>
                </a:solidFill>
                <a:latin typeface="微软雅黑"/>
                <a:ea typeface="微软雅黑"/>
              </a:rPr>
              <a:t>3000+文档高效检索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899913" y="1600000"/>
            <a:ext cx="2598440" cy="2992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899913" y="1600000"/>
            <a:ext cx="2598440" cy="50000"/>
          </a:xfrm>
          <a:prstGeom prst="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19913" y="1720000"/>
            <a:ext cx="235844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D48CE"/>
                </a:solidFill>
                <a:latin typeface="微软雅黑"/>
                <a:ea typeface="微软雅黑"/>
              </a:rPr>
              <a:t>智能化工大模型3.0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19913" y="2070000"/>
            <a:ext cx="23584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99999"/>
                </a:solidFill>
                <a:latin typeface="微软雅黑"/>
                <a:ea typeface="微软雅黑"/>
              </a:rPr>
              <a:t>大连化物所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19913" y="2350000"/>
            <a:ext cx="235844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19913" y="2450000"/>
            <a:ext cx="23584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99999"/>
                </a:solidFill>
                <a:latin typeface="微软雅黑"/>
                <a:ea typeface="微软雅黑"/>
              </a:rPr>
              <a:t>技术路线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A1A1A"/>
                </a:solidFill>
                <a:latin typeface="微软雅黑"/>
                <a:ea typeface="微软雅黑"/>
              </a:rPr>
              <a:t>行业垂直大模型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19913" y="3595997"/>
            <a:ext cx="23584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99999"/>
                </a:solidFill>
                <a:latin typeface="微软雅黑"/>
                <a:ea typeface="微软雅黑"/>
              </a:rPr>
              <a:t>核心指标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1A1A1A"/>
                </a:solidFill>
                <a:latin typeface="微软雅黑"/>
                <a:ea typeface="微软雅黑"/>
              </a:rPr>
              <a:t>智能体标准框架/100+企业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4593" y="4722500"/>
            <a:ext cx="10843761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8CE"/>
                </a:solidFill>
                <a:latin typeface="微软雅黑"/>
                <a:ea typeface="微软雅黑"/>
              </a:rPr>
              <a:t>■ </a:t>
            </a:r>
            <a:r>
              <a:rPr sz="1600" b="1">
                <a:solidFill>
                  <a:srgbClr val="1A1A1A"/>
                </a:solidFill>
                <a:latin typeface="微软雅黑"/>
                <a:ea typeface="微软雅黑"/>
              </a:rPr>
              <a:t>技术趋势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4593" y="5202500"/>
            <a:ext cx="10743761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48CE"/>
                </a:solidFill>
                <a:latin typeface="微软雅黑"/>
                <a:ea typeface="微软雅黑"/>
              </a:rPr>
              <a:t>时序大模型</a:t>
            </a:r>
            <a:r>
              <a:rPr sz="1500" b="0">
                <a:solidFill>
                  <a:srgbClr val="4D4D4D"/>
                </a:solidFill>
                <a:latin typeface="微软雅黑"/>
                <a:ea typeface="微软雅黑"/>
              </a:rPr>
              <a:t>成为流程工业AI主流路线，预测准确度达</a:t>
            </a:r>
            <a:r>
              <a:rPr sz="1500" b="1">
                <a:solidFill>
                  <a:srgbClr val="0D48CE"/>
                </a:solidFill>
                <a:latin typeface="微软雅黑"/>
                <a:ea typeface="微软雅黑"/>
              </a:rPr>
              <a:t>95%+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D48CE"/>
                </a:solidFill>
                <a:latin typeface="微软雅黑"/>
                <a:ea typeface="微软雅黑"/>
              </a:rPr>
              <a:t>多模态融合</a:t>
            </a:r>
            <a:r>
              <a:rPr sz="1500" b="0">
                <a:solidFill>
                  <a:srgbClr val="4D4D4D"/>
                </a:solidFill>
                <a:latin typeface="微软雅黑"/>
                <a:ea typeface="微软雅黑"/>
              </a:rPr>
              <a:t>持续增强，覆盖图纸、表格、视频等工业数据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D48CE"/>
                </a:solidFill>
                <a:latin typeface="微软雅黑"/>
                <a:ea typeface="微软雅黑"/>
              </a:rPr>
              <a:t>智能体标准化</a:t>
            </a:r>
            <a:r>
              <a:rPr sz="1500" b="0">
                <a:solidFill>
                  <a:srgbClr val="4D4D4D"/>
                </a:solidFill>
                <a:latin typeface="微软雅黑"/>
                <a:ea typeface="微软雅黑"/>
              </a:rPr>
              <a:t>开发框架兴起，支撑多Agent协同与目标驱动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00000" y="6500000"/>
            <a:ext cx="8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微软雅黑"/>
                <a:ea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微软雅黑"/>
                <a:ea typeface="微软雅黑"/>
              </a:rPr>
              <a:t>市场机遇与商业落地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54593" y="1050000"/>
            <a:ext cx="10843761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8CE"/>
                </a:solidFill>
                <a:latin typeface="微软雅黑"/>
                <a:ea typeface="微软雅黑"/>
              </a:rPr>
              <a:t>■ </a:t>
            </a:r>
            <a:r>
              <a:rPr sz="1600" b="1">
                <a:solidFill>
                  <a:srgbClr val="1A1A1A"/>
                </a:solidFill>
                <a:latin typeface="微软雅黑"/>
                <a:ea typeface="微软雅黑"/>
              </a:rPr>
              <a:t>政策驱动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4593" y="1530000"/>
            <a:ext cx="3514587" cy="105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4593" y="1610000"/>
            <a:ext cx="3274587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D48CE"/>
                </a:solidFill>
                <a:latin typeface="微软雅黑"/>
                <a:ea typeface="微软雅黑"/>
              </a:rPr>
              <a:t>1000个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593" y="2149500"/>
            <a:ext cx="327458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微软雅黑"/>
                <a:ea typeface="微软雅黑"/>
              </a:rPr>
              <a:t>工业智能体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19180" y="1530000"/>
            <a:ext cx="3514587" cy="105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9180" y="1610000"/>
            <a:ext cx="3274587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D48CE"/>
                </a:solidFill>
                <a:latin typeface="微软雅黑"/>
                <a:ea typeface="微软雅黑"/>
              </a:rPr>
              <a:t>100个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9180" y="2149500"/>
            <a:ext cx="327458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微软雅黑"/>
                <a:ea typeface="微软雅黑"/>
              </a:rPr>
              <a:t>高质量数据集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83767" y="1530000"/>
            <a:ext cx="3514587" cy="105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03767" y="1610000"/>
            <a:ext cx="3274587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D48CE"/>
                </a:solidFill>
                <a:latin typeface="微软雅黑"/>
                <a:ea typeface="微软雅黑"/>
              </a:rPr>
              <a:t>500个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03767" y="2149500"/>
            <a:ext cx="327458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微软雅黑"/>
                <a:ea typeface="微软雅黑"/>
              </a:rPr>
              <a:t>典型场景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4593" y="2710000"/>
            <a:ext cx="10843761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99999"/>
                </a:solidFill>
                <a:latin typeface="微软雅黑"/>
                <a:ea typeface="微软雅黑"/>
              </a:rPr>
              <a:t>—— 《"人工智能+制造"专项行动》2027目标 / 《石化化工稳增长方案》：增加值年均增长5%+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4593" y="3120000"/>
            <a:ext cx="10843761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8CE"/>
                </a:solidFill>
                <a:latin typeface="微软雅黑"/>
                <a:ea typeface="微软雅黑"/>
              </a:rPr>
              <a:t>■ </a:t>
            </a:r>
            <a:r>
              <a:rPr sz="1600" b="1">
                <a:solidFill>
                  <a:srgbClr val="1A1A1A"/>
                </a:solidFill>
                <a:latin typeface="微软雅黑"/>
                <a:ea typeface="微软雅黑"/>
              </a:rPr>
              <a:t>落地实效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4593" y="3600000"/>
            <a:ext cx="2598440" cy="2700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4593" y="3680000"/>
            <a:ext cx="23984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48CE"/>
                </a:solidFill>
                <a:latin typeface="微软雅黑"/>
                <a:ea typeface="微软雅黑"/>
              </a:rPr>
              <a:t>大连西太常减压优化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593" y="4150000"/>
            <a:ext cx="239844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D48CE"/>
                </a:solidFill>
                <a:latin typeface="微软雅黑"/>
                <a:ea typeface="微软雅黑"/>
              </a:rPr>
              <a:t>6855万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593" y="5085000"/>
            <a:ext cx="23984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年创效，波动降40%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593" y="5706000"/>
            <a:ext cx="239844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99999"/>
                </a:solidFill>
                <a:latin typeface="微软雅黑"/>
                <a:ea typeface="微软雅黑"/>
              </a:rPr>
              <a:t>方案: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AI+工艺闭环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03033" y="3600000"/>
            <a:ext cx="2598440" cy="2700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03033" y="3680000"/>
            <a:ext cx="23984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48CE"/>
                </a:solidFill>
                <a:latin typeface="微软雅黑"/>
                <a:ea typeface="微软雅黑"/>
              </a:rPr>
              <a:t>陕西甲醇精馏装置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03033" y="4150000"/>
            <a:ext cx="239844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D48CE"/>
                </a:solidFill>
                <a:latin typeface="微软雅黑"/>
                <a:ea typeface="微软雅黑"/>
              </a:rPr>
              <a:t>200万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03033" y="5085000"/>
            <a:ext cx="23984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年省，蒸汽降2%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03033" y="5706000"/>
            <a:ext cx="239844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99999"/>
                </a:solidFill>
                <a:latin typeface="微软雅黑"/>
                <a:ea typeface="微软雅黑"/>
              </a:rPr>
              <a:t>方案: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AI+APC融合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51473" y="3600000"/>
            <a:ext cx="2598440" cy="2700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51473" y="3680000"/>
            <a:ext cx="23984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48CE"/>
                </a:solidFill>
                <a:latin typeface="微软雅黑"/>
                <a:ea typeface="微软雅黑"/>
              </a:rPr>
              <a:t>金陵石化全流程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51473" y="4150000"/>
            <a:ext cx="239844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D48CE"/>
                </a:solidFill>
                <a:latin typeface="微软雅黑"/>
                <a:ea typeface="微软雅黑"/>
              </a:rPr>
              <a:t>20%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51473" y="5085000"/>
            <a:ext cx="23984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效率提升，45智能体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51473" y="5706000"/>
            <a:ext cx="239844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99999"/>
                </a:solidFill>
                <a:latin typeface="微软雅黑"/>
                <a:ea typeface="微软雅黑"/>
              </a:rPr>
              <a:t>方案: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AIPC+数字孪生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99913" y="3600000"/>
            <a:ext cx="2598440" cy="2700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99913" y="3680000"/>
            <a:ext cx="23984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48CE"/>
                </a:solidFill>
                <a:latin typeface="微软雅黑"/>
                <a:ea typeface="微软雅黑"/>
              </a:rPr>
              <a:t>镇海炼化设备管理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99913" y="4150000"/>
            <a:ext cx="239844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D48CE"/>
                </a:solidFill>
                <a:latin typeface="微软雅黑"/>
                <a:ea typeface="微软雅黑"/>
              </a:rPr>
              <a:t>52万台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99913" y="5085000"/>
            <a:ext cx="23984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设备智能预警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99913" y="5706000"/>
            <a:ext cx="239844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99999"/>
                </a:solidFill>
                <a:latin typeface="微软雅黑"/>
                <a:ea typeface="微软雅黑"/>
              </a:rPr>
              <a:t>方案: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PRIDE全感知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00000" y="6500000"/>
            <a:ext cx="8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微软雅黑"/>
                <a:ea typeface="微软雅黑"/>
              </a:rPr>
              <a:t>4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微软雅黑"/>
                <a:ea typeface="微软雅黑"/>
              </a:rPr>
              <a:t>业务目标与里程碑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54593" y="1050000"/>
            <a:ext cx="10843761" cy="42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4593" y="1110000"/>
            <a:ext cx="10603761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4D4D4D"/>
                </a:solidFill>
                <a:latin typeface="微软雅黑"/>
                <a:ea typeface="微软雅黑"/>
              </a:rPr>
              <a:t>定位：基于时序与多模态技术，构建石化行业大脑，实现"算力+算法+数据+智能体"四位一体服务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53813" y="1730000"/>
            <a:ext cx="8245320" cy="32500"/>
          </a:xfrm>
          <a:prstGeom prst="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797813" y="1589600"/>
            <a:ext cx="312000" cy="312000"/>
          </a:xfrm>
          <a:prstGeom prst="ellipse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Q1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593" y="1938000"/>
            <a:ext cx="25984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48CE"/>
                </a:solidFill>
                <a:latin typeface="微软雅黑"/>
                <a:ea typeface="微软雅黑"/>
              </a:rPr>
              <a:t>3月31日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4593" y="2551250"/>
            <a:ext cx="2598440" cy="374875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593" y="2631250"/>
            <a:ext cx="239844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行业大脑V1发布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4593" y="3131250"/>
            <a:ext cx="239844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4593" y="3231250"/>
            <a:ext cx="239844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9999"/>
                </a:solidFill>
                <a:latin typeface="微软雅黑"/>
                <a:ea typeface="微软雅黑"/>
              </a:rPr>
              <a:t>量化指标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D48CE"/>
                </a:solidFill>
                <a:latin typeface="微软雅黑"/>
                <a:ea typeface="微软雅黑"/>
              </a:rPr>
              <a:t>核心框架上线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593" y="4425625"/>
            <a:ext cx="2398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9999"/>
                </a:solidFill>
                <a:latin typeface="微软雅黑"/>
                <a:ea typeface="微软雅黑"/>
              </a:rPr>
              <a:t>关键交付物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1A1A"/>
                </a:solidFill>
                <a:latin typeface="微软雅黑"/>
                <a:ea typeface="微软雅黑"/>
              </a:rPr>
              <a:t>Agent系统+首批场景模型</a:t>
            </a:r>
          </a:p>
        </p:txBody>
      </p:sp>
      <p:sp>
        <p:nvSpPr>
          <p:cNvPr id="52" name="Oval 51"/>
          <p:cNvSpPr/>
          <p:nvPr/>
        </p:nvSpPr>
        <p:spPr>
          <a:xfrm>
            <a:off x="4546253" y="1589600"/>
            <a:ext cx="312000" cy="312000"/>
          </a:xfrm>
          <a:prstGeom prst="ellipse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Q2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03033" y="1938000"/>
            <a:ext cx="25984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48CE"/>
                </a:solidFill>
                <a:latin typeface="微软雅黑"/>
                <a:ea typeface="微软雅黑"/>
              </a:rPr>
              <a:t>6月30日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03033" y="2551250"/>
            <a:ext cx="2598440" cy="374875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03033" y="2631250"/>
            <a:ext cx="239844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首批客户POC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03033" y="3131250"/>
            <a:ext cx="239844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03033" y="3231250"/>
            <a:ext cx="239844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9999"/>
                </a:solidFill>
                <a:latin typeface="微软雅黑"/>
                <a:ea typeface="微软雅黑"/>
              </a:rPr>
              <a:t>量化指标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D48CE"/>
                </a:solidFill>
                <a:latin typeface="微软雅黑"/>
                <a:ea typeface="微软雅黑"/>
              </a:rPr>
              <a:t>至少2家头部企业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3033" y="4425625"/>
            <a:ext cx="2398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9999"/>
                </a:solidFill>
                <a:latin typeface="微软雅黑"/>
                <a:ea typeface="微软雅黑"/>
              </a:rPr>
              <a:t>关键交付物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1A1A"/>
                </a:solidFill>
                <a:latin typeface="微软雅黑"/>
                <a:ea typeface="微软雅黑"/>
              </a:rPr>
              <a:t>POC报告+场景验证</a:t>
            </a:r>
          </a:p>
        </p:txBody>
      </p:sp>
      <p:sp>
        <p:nvSpPr>
          <p:cNvPr id="59" name="Oval 58"/>
          <p:cNvSpPr/>
          <p:nvPr/>
        </p:nvSpPr>
        <p:spPr>
          <a:xfrm>
            <a:off x="7294693" y="1589600"/>
            <a:ext cx="312000" cy="312000"/>
          </a:xfrm>
          <a:prstGeom prst="ellipse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Q3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51473" y="1938000"/>
            <a:ext cx="25984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48CE"/>
                </a:solidFill>
                <a:latin typeface="微软雅黑"/>
                <a:ea typeface="微软雅黑"/>
              </a:rPr>
              <a:t>9月30日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51473" y="2551250"/>
            <a:ext cx="2598440" cy="374875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1473" y="2631250"/>
            <a:ext cx="239844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规模化落地启动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51473" y="3131250"/>
            <a:ext cx="239844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51473" y="3231250"/>
            <a:ext cx="239844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9999"/>
                </a:solidFill>
                <a:latin typeface="微软雅黑"/>
                <a:ea typeface="微软雅黑"/>
              </a:rPr>
              <a:t>量化指标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D48CE"/>
                </a:solidFill>
                <a:latin typeface="微软雅黑"/>
                <a:ea typeface="微软雅黑"/>
              </a:rPr>
              <a:t>2个落地项目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51473" y="4425625"/>
            <a:ext cx="2398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9999"/>
                </a:solidFill>
                <a:latin typeface="微软雅黑"/>
                <a:ea typeface="微软雅黑"/>
              </a:rPr>
              <a:t>关键交付物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1A1A"/>
                </a:solidFill>
                <a:latin typeface="微软雅黑"/>
                <a:ea typeface="微软雅黑"/>
              </a:rPr>
              <a:t>交付方案+效果评估</a:t>
            </a:r>
          </a:p>
        </p:txBody>
      </p:sp>
      <p:sp>
        <p:nvSpPr>
          <p:cNvPr id="66" name="Oval 65"/>
          <p:cNvSpPr/>
          <p:nvPr/>
        </p:nvSpPr>
        <p:spPr>
          <a:xfrm>
            <a:off x="10043133" y="1589600"/>
            <a:ext cx="312000" cy="312000"/>
          </a:xfrm>
          <a:prstGeom prst="ellipse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Q4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99913" y="1938000"/>
            <a:ext cx="25984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48CE"/>
                </a:solidFill>
                <a:latin typeface="微软雅黑"/>
                <a:ea typeface="微软雅黑"/>
              </a:rPr>
              <a:t>12月31日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899913" y="2551250"/>
            <a:ext cx="2598440" cy="374875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99913" y="2631250"/>
            <a:ext cx="239844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年度目标达成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99913" y="3131250"/>
            <a:ext cx="239844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99913" y="3231250"/>
            <a:ext cx="239844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9999"/>
                </a:solidFill>
                <a:latin typeface="微软雅黑"/>
                <a:ea typeface="微软雅黑"/>
              </a:rPr>
              <a:t>量化指标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D48CE"/>
                </a:solidFill>
                <a:latin typeface="微软雅黑"/>
                <a:ea typeface="微软雅黑"/>
              </a:rPr>
              <a:t>3个落地、20+场景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99913" y="4425625"/>
            <a:ext cx="2398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9999"/>
                </a:solidFill>
                <a:latin typeface="微软雅黑"/>
                <a:ea typeface="微软雅黑"/>
              </a:rPr>
              <a:t>关键交付物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1A1A"/>
                </a:solidFill>
                <a:latin typeface="微软雅黑"/>
                <a:ea typeface="微软雅黑"/>
              </a:rPr>
              <a:t>标杆案例+产品迭代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00000" y="6500000"/>
            <a:ext cx="8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微软雅黑"/>
                <a:ea typeface="微软雅黑"/>
              </a:rPr>
              <a:t>5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微软雅黑"/>
                <a:ea typeface="微软雅黑"/>
              </a:rPr>
              <a:t>行业大脑系统架构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54593" y="1100000"/>
            <a:ext cx="10843761" cy="38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4593" y="1160000"/>
            <a:ext cx="10603761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4D4D4D"/>
                </a:solidFill>
                <a:latin typeface="微软雅黑"/>
                <a:ea typeface="微软雅黑"/>
              </a:rPr>
              <a:t>行业大脑采用"核心运行+底座支撑+自我进化"三层架构，支撑石化、钢铁、新能源汽车等多行业大脑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4593" y="1550000"/>
            <a:ext cx="600000" cy="4600000"/>
          </a:xfrm>
          <a:prstGeom prst="round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行
业
大
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593" y="1550000"/>
            <a:ext cx="2947920" cy="6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04593" y="1700000"/>
            <a:ext cx="29479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石化行业大脑</a:t>
            </a:r>
          </a:p>
          <a:p>
            <a:pPr algn="ctr"/>
            <a:r>
              <a:rPr sz="1100" b="0">
                <a:solidFill>
                  <a:srgbClr val="4D4D4D"/>
                </a:solidFill>
                <a:latin typeface="微软雅黑"/>
                <a:ea typeface="微软雅黑"/>
              </a:rPr>
              <a:t>e.g. 关键设备预测性维护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02513" y="1550000"/>
            <a:ext cx="2947920" cy="6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02513" y="1700000"/>
            <a:ext cx="29479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钢铁行业大脑</a:t>
            </a:r>
          </a:p>
          <a:p>
            <a:pPr algn="ctr"/>
            <a:r>
              <a:rPr sz="1100" b="0">
                <a:solidFill>
                  <a:srgbClr val="4D4D4D"/>
                </a:solidFill>
                <a:latin typeface="微软雅黑"/>
                <a:ea typeface="微软雅黑"/>
              </a:rPr>
              <a:t>e.g. 新钢种研发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00433" y="1550000"/>
            <a:ext cx="2947920" cy="6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00433" y="1700000"/>
            <a:ext cx="29479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新能源汽车行业大脑</a:t>
            </a:r>
          </a:p>
          <a:p>
            <a:pPr algn="ctr"/>
            <a:r>
              <a:rPr sz="1100" b="0">
                <a:solidFill>
                  <a:srgbClr val="4D4D4D"/>
                </a:solidFill>
                <a:latin typeface="微软雅黑"/>
                <a:ea typeface="微软雅黑"/>
              </a:rPr>
              <a:t>e.g. 智能网联云控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698353" y="1550000"/>
            <a:ext cx="800000" cy="6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A1A1A"/>
                </a:solidFill>
                <a:latin typeface="微软雅黑"/>
                <a:ea typeface="微软雅黑"/>
              </a:rPr>
              <a:t>......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04593" y="2300000"/>
            <a:ext cx="10093761" cy="1450000"/>
          </a:xfrm>
          <a:prstGeom prst="roundRect">
            <a:avLst/>
          </a:prstGeom>
          <a:noFill/>
          <a:ln w="19050">
            <a:solidFill>
              <a:srgbClr val="0D4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04593" y="2320000"/>
            <a:ext cx="10093761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微软雅黑"/>
                <a:ea typeface="微软雅黑"/>
              </a:rPr>
              <a:t>自我进化引擎（在线演进+离线进化双轮驱动）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24593" y="2725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D4D4D"/>
                </a:solidFill>
                <a:latin typeface="微软雅黑"/>
                <a:ea typeface="微软雅黑"/>
              </a:rPr>
              <a:t>在线演进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24593" y="3325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D4D4D"/>
                </a:solidFill>
                <a:latin typeface="微软雅黑"/>
                <a:ea typeface="微软雅黑"/>
              </a:rPr>
              <a:t>离线进化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04593" y="2700000"/>
            <a:ext cx="1658752" cy="350000"/>
          </a:xfrm>
          <a:prstGeom prst="roundRect">
            <a:avLst/>
          </a:prstGeom>
          <a:solidFill>
            <a:srgbClr val="E2F0D9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B050"/>
                </a:solidFill>
                <a:latin typeface="微软雅黑"/>
                <a:ea typeface="微软雅黑"/>
              </a:rPr>
              <a:t>信号感知</a:t>
            </a:r>
          </a:p>
          <a:p>
            <a:pPr algn="ctr"/>
            <a:r>
              <a:rPr sz="900" b="0">
                <a:solidFill>
                  <a:srgbClr val="4D4D4D"/>
                </a:solidFill>
                <a:latin typeface="微软雅黑"/>
                <a:ea typeface="微软雅黑"/>
              </a:rPr>
              <a:t>日志审计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04593" y="3300000"/>
            <a:ext cx="1658752" cy="3500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D7D31"/>
                </a:solidFill>
                <a:latin typeface="微软雅黑"/>
                <a:ea typeface="微软雅黑"/>
              </a:rPr>
              <a:t>信号感知</a:t>
            </a:r>
          </a:p>
          <a:p>
            <a:pPr algn="ctr"/>
            <a:r>
              <a:rPr sz="900" b="0">
                <a:solidFill>
                  <a:srgbClr val="4D4D4D"/>
                </a:solidFill>
                <a:latin typeface="微软雅黑"/>
                <a:ea typeface="微软雅黑"/>
              </a:rPr>
              <a:t>数据挖掘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63345" y="2862300"/>
            <a:ext cx="150000" cy="25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Isosceles Triangle 58"/>
          <p:cNvSpPr/>
          <p:nvPr/>
        </p:nvSpPr>
        <p:spPr>
          <a:xfrm rot="5400000">
            <a:off x="4333345" y="2835000"/>
            <a:ext cx="80000" cy="80000"/>
          </a:xfrm>
          <a:prstGeom prst="triangle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63345" y="3462300"/>
            <a:ext cx="150000" cy="25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 rot="5400000">
            <a:off x="4333345" y="3435000"/>
            <a:ext cx="80000" cy="80000"/>
          </a:xfrm>
          <a:prstGeom prst="triangle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413345" y="2700000"/>
            <a:ext cx="1658752" cy="350000"/>
          </a:xfrm>
          <a:prstGeom prst="roundRect">
            <a:avLst/>
          </a:prstGeom>
          <a:solidFill>
            <a:srgbClr val="E2F0D9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B050"/>
                </a:solidFill>
                <a:latin typeface="微软雅黑"/>
                <a:ea typeface="微软雅黑"/>
              </a:rPr>
              <a:t>策略匹配</a:t>
            </a:r>
          </a:p>
          <a:p>
            <a:pPr algn="ctr"/>
            <a:r>
              <a:rPr sz="900" b="0">
                <a:solidFill>
                  <a:srgbClr val="4D4D4D"/>
                </a:solidFill>
                <a:latin typeface="微软雅黑"/>
                <a:ea typeface="微软雅黑"/>
              </a:rPr>
              <a:t>SOP匹配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13345" y="3300000"/>
            <a:ext cx="1658752" cy="3500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D7D31"/>
                </a:solidFill>
                <a:latin typeface="微软雅黑"/>
                <a:ea typeface="微软雅黑"/>
              </a:rPr>
              <a:t>策略匹配</a:t>
            </a:r>
          </a:p>
          <a:p>
            <a:pPr algn="ctr"/>
            <a:r>
              <a:rPr sz="900" b="0">
                <a:solidFill>
                  <a:srgbClr val="4D4D4D"/>
                </a:solidFill>
                <a:latin typeface="微软雅黑"/>
                <a:ea typeface="微软雅黑"/>
              </a:rPr>
              <a:t>基因变异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72097" y="2862300"/>
            <a:ext cx="150000" cy="25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Isosceles Triangle 64"/>
          <p:cNvSpPr/>
          <p:nvPr/>
        </p:nvSpPr>
        <p:spPr>
          <a:xfrm rot="5400000">
            <a:off x="6142097" y="2835000"/>
            <a:ext cx="80000" cy="80000"/>
          </a:xfrm>
          <a:prstGeom prst="triangle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72097" y="3462300"/>
            <a:ext cx="150000" cy="25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Isosceles Triangle 66"/>
          <p:cNvSpPr/>
          <p:nvPr/>
        </p:nvSpPr>
        <p:spPr>
          <a:xfrm rot="5400000">
            <a:off x="6142097" y="3435000"/>
            <a:ext cx="80000" cy="80000"/>
          </a:xfrm>
          <a:prstGeom prst="triangle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222097" y="2700000"/>
            <a:ext cx="1658752" cy="350000"/>
          </a:xfrm>
          <a:prstGeom prst="roundRect">
            <a:avLst/>
          </a:prstGeom>
          <a:solidFill>
            <a:srgbClr val="E2F0D9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B050"/>
                </a:solidFill>
                <a:latin typeface="微软雅黑"/>
                <a:ea typeface="微软雅黑"/>
              </a:rPr>
              <a:t>安全执行</a:t>
            </a:r>
          </a:p>
          <a:p>
            <a:pPr algn="ctr"/>
            <a:r>
              <a:rPr sz="900" b="0">
                <a:solidFill>
                  <a:srgbClr val="4D4D4D"/>
                </a:solidFill>
                <a:latin typeface="微软雅黑"/>
                <a:ea typeface="微软雅黑"/>
              </a:rPr>
              <a:t>规则门控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22097" y="3300000"/>
            <a:ext cx="1658752" cy="3500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D7D31"/>
                </a:solidFill>
                <a:latin typeface="微软雅黑"/>
                <a:ea typeface="微软雅黑"/>
              </a:rPr>
              <a:t>安全执行</a:t>
            </a:r>
          </a:p>
          <a:p>
            <a:pPr algn="ctr"/>
            <a:r>
              <a:rPr sz="900" b="0">
                <a:solidFill>
                  <a:srgbClr val="4D4D4D"/>
                </a:solidFill>
                <a:latin typeface="微软雅黑"/>
                <a:ea typeface="微软雅黑"/>
              </a:rPr>
              <a:t>沙盒仿真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80849" y="2862300"/>
            <a:ext cx="150000" cy="25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Isosceles Triangle 70"/>
          <p:cNvSpPr/>
          <p:nvPr/>
        </p:nvSpPr>
        <p:spPr>
          <a:xfrm rot="5400000">
            <a:off x="7950849" y="2835000"/>
            <a:ext cx="80000" cy="80000"/>
          </a:xfrm>
          <a:prstGeom prst="triangle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880849" y="3462300"/>
            <a:ext cx="150000" cy="25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sosceles Triangle 72"/>
          <p:cNvSpPr/>
          <p:nvPr/>
        </p:nvSpPr>
        <p:spPr>
          <a:xfrm rot="5400000">
            <a:off x="7950849" y="3435000"/>
            <a:ext cx="80000" cy="80000"/>
          </a:xfrm>
          <a:prstGeom prst="triangle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030849" y="2700000"/>
            <a:ext cx="1658752" cy="350000"/>
          </a:xfrm>
          <a:prstGeom prst="roundRect">
            <a:avLst/>
          </a:prstGeom>
          <a:solidFill>
            <a:srgbClr val="E2F0D9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B050"/>
                </a:solidFill>
                <a:latin typeface="微软雅黑"/>
                <a:ea typeface="微软雅黑"/>
              </a:rPr>
              <a:t>资产沉淀</a:t>
            </a:r>
          </a:p>
          <a:p>
            <a:pPr algn="ctr"/>
            <a:r>
              <a:rPr sz="900" b="0">
                <a:solidFill>
                  <a:srgbClr val="4D4D4D"/>
                </a:solidFill>
                <a:latin typeface="微软雅黑"/>
                <a:ea typeface="微软雅黑"/>
              </a:rPr>
              <a:t>SOP优化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30849" y="3300000"/>
            <a:ext cx="1658752" cy="3500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D7D31"/>
                </a:solidFill>
                <a:latin typeface="微软雅黑"/>
                <a:ea typeface="微软雅黑"/>
              </a:rPr>
              <a:t>资产沉淀</a:t>
            </a:r>
          </a:p>
          <a:p>
            <a:pPr algn="ctr"/>
            <a:r>
              <a:rPr sz="900" b="0">
                <a:solidFill>
                  <a:srgbClr val="4D4D4D"/>
                </a:solidFill>
                <a:latin typeface="微软雅黑"/>
                <a:ea typeface="微软雅黑"/>
              </a:rPr>
              <a:t>策略固化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89601" y="2862300"/>
            <a:ext cx="150000" cy="25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Isosceles Triangle 76"/>
          <p:cNvSpPr/>
          <p:nvPr/>
        </p:nvSpPr>
        <p:spPr>
          <a:xfrm rot="5400000">
            <a:off x="9759601" y="2835000"/>
            <a:ext cx="80000" cy="80000"/>
          </a:xfrm>
          <a:prstGeom prst="triangle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689601" y="3462300"/>
            <a:ext cx="150000" cy="25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Isosceles Triangle 78"/>
          <p:cNvSpPr/>
          <p:nvPr/>
        </p:nvSpPr>
        <p:spPr>
          <a:xfrm rot="5400000">
            <a:off x="9759601" y="3435000"/>
            <a:ext cx="80000" cy="80000"/>
          </a:xfrm>
          <a:prstGeom prst="triangle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9839601" y="2700000"/>
            <a:ext cx="1658752" cy="350000"/>
          </a:xfrm>
          <a:prstGeom prst="roundRect">
            <a:avLst/>
          </a:prstGeom>
          <a:solidFill>
            <a:srgbClr val="E2F0D9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B050"/>
                </a:solidFill>
                <a:latin typeface="微软雅黑"/>
                <a:ea typeface="微软雅黑"/>
              </a:rPr>
              <a:t>协同共享</a:t>
            </a:r>
          </a:p>
          <a:p>
            <a:pPr algn="ctr"/>
            <a:r>
              <a:rPr sz="900" b="0">
                <a:solidFill>
                  <a:srgbClr val="4D4D4D"/>
                </a:solidFill>
                <a:latin typeface="微软雅黑"/>
                <a:ea typeface="微软雅黑"/>
              </a:rPr>
              <a:t>知识同步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839601" y="3300000"/>
            <a:ext cx="1658752" cy="3500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D7D31"/>
                </a:solidFill>
                <a:latin typeface="微软雅黑"/>
                <a:ea typeface="微软雅黑"/>
              </a:rPr>
              <a:t>协同共享</a:t>
            </a:r>
          </a:p>
          <a:p>
            <a:pPr algn="ctr"/>
            <a:r>
              <a:rPr sz="900" b="0">
                <a:solidFill>
                  <a:srgbClr val="4D4D4D"/>
                </a:solidFill>
                <a:latin typeface="微软雅黑"/>
                <a:ea typeface="微软雅黑"/>
              </a:rPr>
              <a:t>资产互通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404593" y="3900000"/>
            <a:ext cx="1508930" cy="130000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04593" y="3900000"/>
            <a:ext cx="150893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记忆系统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504593" y="4300000"/>
            <a:ext cx="1308930" cy="35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会话管理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504593" y="4750000"/>
            <a:ext cx="1308930" cy="35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上下文管理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13523" y="3900000"/>
            <a:ext cx="1810716" cy="130000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13523" y="3900000"/>
            <a:ext cx="181071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Agent生产系统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913523" y="4300000"/>
            <a:ext cx="1610716" cy="35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Agent构建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913523" y="4750000"/>
            <a:ext cx="1610716" cy="35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Agent发布/运行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524239" y="3900000"/>
            <a:ext cx="1810716" cy="130000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24239" y="3900000"/>
            <a:ext cx="181071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Multi-Agent引擎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624239" y="4300000"/>
            <a:ext cx="1610716" cy="35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沙盒执行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624239" y="4750000"/>
            <a:ext cx="1610716" cy="35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Manager/Handoffs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234955" y="3900000"/>
            <a:ext cx="2263396" cy="130000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34955" y="3900000"/>
            <a:ext cx="226339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可观测系统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334955" y="4300000"/>
            <a:ext cx="2063396" cy="35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Agent监控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334955" y="4750000"/>
            <a:ext cx="2063396" cy="35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评估分析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13523" y="4537300"/>
            <a:ext cx="900000" cy="25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Isosceles Triangle 98"/>
          <p:cNvSpPr/>
          <p:nvPr/>
        </p:nvSpPr>
        <p:spPr>
          <a:xfrm rot="5400000">
            <a:off x="3733523" y="4510000"/>
            <a:ext cx="80000" cy="80000"/>
          </a:xfrm>
          <a:prstGeom prst="triangle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63523" y="42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D4D4D"/>
                </a:solidFill>
                <a:latin typeface="微软雅黑"/>
                <a:ea typeface="微软雅黑"/>
              </a:rPr>
              <a:t>Agent构建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24239" y="4537300"/>
            <a:ext cx="900000" cy="25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Isosceles Triangle 101"/>
          <p:cNvSpPr/>
          <p:nvPr/>
        </p:nvSpPr>
        <p:spPr>
          <a:xfrm rot="5400000">
            <a:off x="6444239" y="4510000"/>
            <a:ext cx="80000" cy="80000"/>
          </a:xfrm>
          <a:prstGeom prst="triangle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474239" y="42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D4D4D"/>
                </a:solidFill>
                <a:latin typeface="微软雅黑"/>
                <a:ea typeface="微软雅黑"/>
              </a:rPr>
              <a:t>Agent发布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334955" y="4537300"/>
            <a:ext cx="900000" cy="25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Isosceles Triangle 104"/>
          <p:cNvSpPr/>
          <p:nvPr/>
        </p:nvSpPr>
        <p:spPr>
          <a:xfrm rot="5400000">
            <a:off x="9154955" y="4510000"/>
            <a:ext cx="80000" cy="80000"/>
          </a:xfrm>
          <a:prstGeom prst="triangle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184955" y="42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D4D4D"/>
                </a:solidFill>
                <a:latin typeface="微软雅黑"/>
                <a:ea typeface="微软雅黑"/>
              </a:rPr>
              <a:t>Agent运行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404593" y="5500000"/>
            <a:ext cx="5000000" cy="750000"/>
          </a:xfrm>
          <a:prstGeom prst="roundRect">
            <a:avLst/>
          </a:prstGeom>
          <a:noFill/>
          <a:ln w="19050">
            <a:solidFill>
              <a:srgbClr val="0D4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404593" y="55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知识中心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504593" y="5850000"/>
            <a:ext cx="1125000" cy="350000"/>
          </a:xfrm>
          <a:prstGeom prst="round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行业知识图谱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29593" y="5850000"/>
            <a:ext cx="1125000" cy="350000"/>
          </a:xfrm>
          <a:prstGeom prst="round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业务模型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954593" y="5850000"/>
            <a:ext cx="1125000" cy="350000"/>
          </a:xfrm>
          <a:prstGeom prst="round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业务逻辑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179593" y="5850000"/>
            <a:ext cx="1125000" cy="350000"/>
          </a:xfrm>
          <a:prstGeom prst="round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环境描述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304593" y="5500000"/>
            <a:ext cx="4193761" cy="750000"/>
          </a:xfrm>
          <a:prstGeom prst="roundRect">
            <a:avLst/>
          </a:prstGeom>
          <a:noFill/>
          <a:ln w="19050">
            <a:solidFill>
              <a:srgbClr val="0D4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04593" y="5500000"/>
            <a:ext cx="4193761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工具库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404593" y="5850000"/>
            <a:ext cx="1264587" cy="350000"/>
          </a:xfrm>
          <a:prstGeom prst="round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知识检索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769180" y="5850000"/>
            <a:ext cx="1264587" cy="350000"/>
          </a:xfrm>
          <a:prstGeom prst="round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Web Browser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0133767" y="5850000"/>
            <a:ext cx="1264587" cy="350000"/>
          </a:xfrm>
          <a:prstGeom prst="roundRect">
            <a:avLst/>
          </a:prstGeom>
          <a:solidFill>
            <a:srgbClr val="0D4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API调用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706181" y="5200000"/>
            <a:ext cx="25400" cy="300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Isosceles Triangle 118"/>
          <p:cNvSpPr/>
          <p:nvPr/>
        </p:nvSpPr>
        <p:spPr>
          <a:xfrm>
            <a:off x="4678881" y="5200000"/>
            <a:ext cx="80000" cy="80000"/>
          </a:xfrm>
          <a:prstGeom prst="triangle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200000" y="6500000"/>
            <a:ext cx="8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微软雅黑"/>
                <a:ea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25D8896-1D3A-F44A-9B04-2608E243A15D}"/>
              </a:ext>
            </a:extLst>
          </p:cNvPr>
          <p:cNvSpPr txBox="1"/>
          <p:nvPr/>
        </p:nvSpPr>
        <p:spPr>
          <a:xfrm>
            <a:off x="806995" y="6286406"/>
            <a:ext cx="2606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4D4D4D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Arial" panose="020B0604020202020204" pitchFamily="34" charset="0"/>
              </a:rPr>
              <a:t>未来，因潮澎湃    </a:t>
            </a:r>
            <a:r>
              <a:rPr kumimoji="1" lang="en-US" altLang="zh-CN" sz="1200" dirty="0">
                <a:solidFill>
                  <a:srgbClr val="4D4D4D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Arial" panose="020B0604020202020204" pitchFamily="34" charset="0"/>
              </a:rPr>
              <a:t>Inspur in Future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810977-3626-C646-BDB8-9256BE858B77}"/>
              </a:ext>
            </a:extLst>
          </p:cNvPr>
          <p:cNvSpPr txBox="1"/>
          <p:nvPr/>
        </p:nvSpPr>
        <p:spPr>
          <a:xfrm>
            <a:off x="796834" y="2580640"/>
            <a:ext cx="22308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5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E8FB2E-2D95-2845-9797-48A60B7D837D}"/>
              </a:ext>
            </a:extLst>
          </p:cNvPr>
          <p:cNvSpPr txBox="1"/>
          <p:nvPr/>
        </p:nvSpPr>
        <p:spPr>
          <a:xfrm>
            <a:off x="766354" y="3389248"/>
            <a:ext cx="29522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800" kern="4000" spc="2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kumimoji="1" lang="zh-CN" altLang="en-US" sz="3800" kern="4000" spc="2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285D977A-EE4D-1F47-B0AA-F42046651357}"/>
              </a:ext>
            </a:extLst>
          </p:cNvPr>
          <p:cNvSpPr>
            <a:spLocks noEditPoints="1"/>
          </p:cNvSpPr>
          <p:nvPr/>
        </p:nvSpPr>
        <p:spPr bwMode="auto">
          <a:xfrm>
            <a:off x="768009" y="544469"/>
            <a:ext cx="2565711" cy="458832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rgbClr val="0D48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8ACBF9D-83A9-B845-A5B1-53CEFD6A5BAC}"/>
              </a:ext>
            </a:extLst>
          </p:cNvPr>
          <p:cNvSpPr>
            <a:spLocks/>
          </p:cNvSpPr>
          <p:nvPr/>
        </p:nvSpPr>
        <p:spPr bwMode="auto">
          <a:xfrm>
            <a:off x="6674663" y="896471"/>
            <a:ext cx="4881600" cy="5325036"/>
          </a:xfrm>
          <a:custGeom>
            <a:avLst/>
            <a:gdLst>
              <a:gd name="T0" fmla="*/ 320 w 1531"/>
              <a:gd name="T1" fmla="*/ 18 h 1670"/>
              <a:gd name="T2" fmla="*/ 1504 w 1531"/>
              <a:gd name="T3" fmla="*/ 822 h 1670"/>
              <a:gd name="T4" fmla="*/ 1500 w 1531"/>
              <a:gd name="T5" fmla="*/ 895 h 1670"/>
              <a:gd name="T6" fmla="*/ 69 w 1531"/>
              <a:gd name="T7" fmla="*/ 1653 h 1670"/>
              <a:gd name="T8" fmla="*/ 6 w 1531"/>
              <a:gd name="T9" fmla="*/ 1608 h 1670"/>
              <a:gd name="T10" fmla="*/ 254 w 1531"/>
              <a:gd name="T11" fmla="*/ 47 h 1670"/>
              <a:gd name="T12" fmla="*/ 320 w 1531"/>
              <a:gd name="T13" fmla="*/ 18 h 1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31" h="1670">
                <a:moveTo>
                  <a:pt x="320" y="18"/>
                </a:moveTo>
                <a:cubicBezTo>
                  <a:pt x="1504" y="822"/>
                  <a:pt x="1504" y="822"/>
                  <a:pt x="1504" y="822"/>
                </a:cubicBezTo>
                <a:cubicBezTo>
                  <a:pt x="1531" y="840"/>
                  <a:pt x="1529" y="880"/>
                  <a:pt x="1500" y="895"/>
                </a:cubicBezTo>
                <a:cubicBezTo>
                  <a:pt x="69" y="1653"/>
                  <a:pt x="69" y="1653"/>
                  <a:pt x="69" y="1653"/>
                </a:cubicBezTo>
                <a:cubicBezTo>
                  <a:pt x="37" y="1670"/>
                  <a:pt x="0" y="1643"/>
                  <a:pt x="6" y="1608"/>
                </a:cubicBezTo>
                <a:cubicBezTo>
                  <a:pt x="254" y="47"/>
                  <a:pt x="254" y="47"/>
                  <a:pt x="254" y="47"/>
                </a:cubicBezTo>
                <a:cubicBezTo>
                  <a:pt x="259" y="16"/>
                  <a:pt x="294" y="0"/>
                  <a:pt x="320" y="18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1545" t="-360" r="-27739" b="-7212"/>
            </a:stretch>
          </a:blip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62E33D86-BDAF-C849-AB00-A49143680833}"/>
              </a:ext>
            </a:extLst>
          </p:cNvPr>
          <p:cNvSpPr>
            <a:spLocks/>
          </p:cNvSpPr>
          <p:nvPr/>
        </p:nvSpPr>
        <p:spPr bwMode="auto">
          <a:xfrm>
            <a:off x="10707842" y="3734784"/>
            <a:ext cx="623702" cy="681626"/>
          </a:xfrm>
          <a:custGeom>
            <a:avLst/>
            <a:gdLst>
              <a:gd name="T0" fmla="*/ 56 w 196"/>
              <a:gd name="T1" fmla="*/ 7 h 214"/>
              <a:gd name="T2" fmla="*/ 185 w 196"/>
              <a:gd name="T3" fmla="*/ 95 h 214"/>
              <a:gd name="T4" fmla="*/ 184 w 196"/>
              <a:gd name="T5" fmla="*/ 124 h 214"/>
              <a:gd name="T6" fmla="*/ 28 w 196"/>
              <a:gd name="T7" fmla="*/ 207 h 214"/>
              <a:gd name="T8" fmla="*/ 2 w 196"/>
              <a:gd name="T9" fmla="*/ 189 h 214"/>
              <a:gd name="T10" fmla="*/ 29 w 196"/>
              <a:gd name="T11" fmla="*/ 19 h 214"/>
              <a:gd name="T12" fmla="*/ 56 w 196"/>
              <a:gd name="T13" fmla="*/ 7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6" h="214">
                <a:moveTo>
                  <a:pt x="56" y="7"/>
                </a:moveTo>
                <a:cubicBezTo>
                  <a:pt x="185" y="95"/>
                  <a:pt x="185" y="95"/>
                  <a:pt x="185" y="95"/>
                </a:cubicBezTo>
                <a:cubicBezTo>
                  <a:pt x="196" y="102"/>
                  <a:pt x="195" y="118"/>
                  <a:pt x="184" y="124"/>
                </a:cubicBezTo>
                <a:cubicBezTo>
                  <a:pt x="28" y="207"/>
                  <a:pt x="28" y="207"/>
                  <a:pt x="28" y="207"/>
                </a:cubicBezTo>
                <a:cubicBezTo>
                  <a:pt x="15" y="214"/>
                  <a:pt x="0" y="203"/>
                  <a:pt x="2" y="189"/>
                </a:cubicBezTo>
                <a:cubicBezTo>
                  <a:pt x="29" y="19"/>
                  <a:pt x="29" y="19"/>
                  <a:pt x="29" y="19"/>
                </a:cubicBezTo>
                <a:cubicBezTo>
                  <a:pt x="31" y="6"/>
                  <a:pt x="46" y="0"/>
                  <a:pt x="56" y="7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7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DBDE6DD-2993-814A-BC1C-868BA17F59BB}"/>
              </a:ext>
            </a:extLst>
          </p:cNvPr>
          <p:cNvSpPr>
            <a:spLocks/>
          </p:cNvSpPr>
          <p:nvPr/>
        </p:nvSpPr>
        <p:spPr bwMode="auto">
          <a:xfrm>
            <a:off x="5877187" y="2816071"/>
            <a:ext cx="2470558" cy="2694174"/>
          </a:xfrm>
          <a:custGeom>
            <a:avLst/>
            <a:gdLst>
              <a:gd name="T0" fmla="*/ 177 w 775"/>
              <a:gd name="T1" fmla="*/ 14 h 845"/>
              <a:gd name="T2" fmla="*/ 754 w 775"/>
              <a:gd name="T3" fmla="*/ 405 h 845"/>
              <a:gd name="T4" fmla="*/ 751 w 775"/>
              <a:gd name="T5" fmla="*/ 463 h 845"/>
              <a:gd name="T6" fmla="*/ 54 w 775"/>
              <a:gd name="T7" fmla="*/ 832 h 845"/>
              <a:gd name="T8" fmla="*/ 4 w 775"/>
              <a:gd name="T9" fmla="*/ 797 h 845"/>
              <a:gd name="T10" fmla="*/ 125 w 775"/>
              <a:gd name="T11" fmla="*/ 37 h 845"/>
              <a:gd name="T12" fmla="*/ 177 w 775"/>
              <a:gd name="T13" fmla="*/ 14 h 8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5" h="845">
                <a:moveTo>
                  <a:pt x="177" y="14"/>
                </a:moveTo>
                <a:cubicBezTo>
                  <a:pt x="754" y="405"/>
                  <a:pt x="754" y="405"/>
                  <a:pt x="754" y="405"/>
                </a:cubicBezTo>
                <a:cubicBezTo>
                  <a:pt x="775" y="419"/>
                  <a:pt x="773" y="451"/>
                  <a:pt x="751" y="463"/>
                </a:cubicBezTo>
                <a:cubicBezTo>
                  <a:pt x="54" y="832"/>
                  <a:pt x="54" y="832"/>
                  <a:pt x="54" y="832"/>
                </a:cubicBezTo>
                <a:cubicBezTo>
                  <a:pt x="29" y="845"/>
                  <a:pt x="0" y="825"/>
                  <a:pt x="4" y="79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9" y="12"/>
                  <a:pt x="157" y="0"/>
                  <a:pt x="177" y="14"/>
                </a:cubicBezTo>
                <a:close/>
              </a:path>
            </a:pathLst>
          </a:custGeom>
          <a:gradFill flip="none" rotWithShape="1">
            <a:gsLst>
              <a:gs pos="0">
                <a:srgbClr val="FF8000"/>
              </a:gs>
              <a:gs pos="100000">
                <a:srgbClr val="E80029"/>
              </a:gs>
            </a:gsLst>
            <a:lin ang="0" scaled="1"/>
            <a:tileRect/>
          </a:gra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876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地图集">
  <a:themeElements>
    <a:clrScheme name="自定义 5">
      <a:dk1>
        <a:srgbClr val="000000"/>
      </a:dk1>
      <a:lt1>
        <a:srgbClr val="FFFFFF"/>
      </a:lt1>
      <a:dk2>
        <a:srgbClr val="454545"/>
      </a:dk2>
      <a:lt2>
        <a:srgbClr val="E0E0E0"/>
      </a:lt2>
      <a:accent1>
        <a:srgbClr val="004090"/>
      </a:accent1>
      <a:accent2>
        <a:srgbClr val="0861C8"/>
      </a:accent2>
      <a:accent3>
        <a:srgbClr val="0088EA"/>
      </a:accent3>
      <a:accent4>
        <a:srgbClr val="E6380E"/>
      </a:accent4>
      <a:accent5>
        <a:srgbClr val="5A5B5A"/>
      </a:accent5>
      <a:accent6>
        <a:srgbClr val="CECFCE"/>
      </a:accent6>
      <a:hlink>
        <a:srgbClr val="E4E5E4"/>
      </a:hlink>
      <a:folHlink>
        <a:srgbClr val="B49E74"/>
      </a:folHlink>
    </a:clrScheme>
    <a:fontScheme name="地图集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地图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{36AFADE0-35CF-A841-8B29-9348FA7B34BC}tf10001120</Template>
  <TotalTime>3776</TotalTime>
  <Words>975</Words>
  <Application>Microsoft Office PowerPoint</Application>
  <PresentationFormat>宽屏</PresentationFormat>
  <Paragraphs>242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Helvetica Light</vt:lpstr>
      <vt:lpstr>Helvetica Neue Medium</vt:lpstr>
      <vt:lpstr>Poppins Medium</vt:lpstr>
      <vt:lpstr>Roboto Medium</vt:lpstr>
      <vt:lpstr>Source Han Sans SC</vt:lpstr>
      <vt:lpstr>等线</vt:lpstr>
      <vt:lpstr>思源黑体 CN Regular</vt:lpstr>
      <vt:lpstr>宋体</vt:lpstr>
      <vt:lpstr>微软雅黑</vt:lpstr>
      <vt:lpstr>Arial</vt:lpstr>
      <vt:lpstr>Calibri</vt:lpstr>
      <vt:lpstr>Rockwell</vt:lpstr>
      <vt:lpstr>Wingdings</vt:lpstr>
      <vt:lpstr>地图集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Katherine Wong (王红燕)</cp:lastModifiedBy>
  <cp:revision>254</cp:revision>
  <dcterms:created xsi:type="dcterms:W3CDTF">2022-01-19T06:40:13Z</dcterms:created>
  <dcterms:modified xsi:type="dcterms:W3CDTF">2022-10-11T07:13:23Z</dcterms:modified>
</cp:coreProperties>
</file>